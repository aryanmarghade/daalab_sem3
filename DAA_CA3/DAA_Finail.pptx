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embeddedFontLst>
    <p:embeddedFont>
      <p:font typeface="Noto Sans Bold"/>
      <p:regular r:id="rId201314"/>
    </p:embeddedFont>
    <p:embeddedFont>
      <p:font typeface="Noto Sans"/>
      <p:regular r:id="rId201315"/>
    </p:embeddedFont>
    <p:embeddedFont>
      <p:font typeface="Noto Sans SemiBold"/>
      <p:regular r:id="rId201316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E3A5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image" Target="../media/image-4-9.png"/><Relationship Id="rId10" Type="http://schemas.openxmlformats.org/officeDocument/2006/relationships/slideLayout" Target="../slideLayouts/slideLayout2.xml"/><Relationship Id="rId11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063898" cy="6858000"/>
          </a:xfrm>
          <a:prstGeom prst="rect">
            <a:avLst/>
          </a:prstGeom>
          <a:solidFill>
            <a:srgbClr val="0E3A52"/>
          </a:solidFill>
          <a:ln/>
        </p:spPr>
      </p:sp>
      <p:sp>
        <p:nvSpPr>
          <p:cNvPr id="3" name="Text 1"/>
          <p:cNvSpPr/>
          <p:nvPr/>
        </p:nvSpPr>
        <p:spPr>
          <a:xfrm>
            <a:off x="380990" y="462915"/>
            <a:ext cx="3682908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50" spc="63" kern="100" dirty="0">
                <a:solidFill>
                  <a:srgbClr val="EE8C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ALGORITHMS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380990" y="6219885"/>
            <a:ext cx="3682908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50" dirty="0">
                <a:solidFill>
                  <a:srgbClr val="E3FDF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Design and Analysis of Algorithms</a:t>
            </a:r>
            <a:endParaRPr lang="en-US" sz="10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63898" y="0"/>
            <a:ext cx="8127797" cy="68580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063898" y="0"/>
            <a:ext cx="8127797" cy="6858000"/>
          </a:xfrm>
          <a:prstGeom prst="rect">
            <a:avLst/>
          </a:prstGeom>
          <a:solidFill>
            <a:srgbClr val="082A3B">
              <a:alpha val="65000"/>
            </a:srgbClr>
          </a:solidFill>
          <a:ln/>
        </p:spPr>
      </p:sp>
      <p:sp>
        <p:nvSpPr>
          <p:cNvPr id="7" name="Text 4"/>
          <p:cNvSpPr/>
          <p:nvPr/>
        </p:nvSpPr>
        <p:spPr>
          <a:xfrm>
            <a:off x="4724282" y="2231430"/>
            <a:ext cx="6807030" cy="1905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5000" dirty="0">
                <a:solidFill>
                  <a:srgbClr val="FFFFFF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-120"/>
              </a:rPr>
              <a:t>Asymptotic Notation</a:t>
            </a:r>
            <a:endParaRPr lang="en-US" sz="5000" dirty="0"/>
          </a:p>
          <a:p>
            <a:pPr algn="l" indent="0" marL="0">
              <a:lnSpc>
                <a:spcPct val="83000"/>
              </a:lnSpc>
              <a:buNone/>
            </a:pPr>
            <a:r>
              <a:rPr lang="en-US" sz="5000" dirty="0">
                <a:solidFill>
                  <a:srgbClr val="FFFFFF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-120"/>
              </a:rPr>
              <a:t>and Growth of Functions</a:t>
            </a:r>
            <a:endParaRPr lang="en-US" sz="5000" dirty="0"/>
          </a:p>
        </p:txBody>
      </p:sp>
      <p:sp>
        <p:nvSpPr>
          <p:cNvPr id="8" name="Shape 5"/>
          <p:cNvSpPr/>
          <p:nvPr/>
        </p:nvSpPr>
        <p:spPr>
          <a:xfrm>
            <a:off x="4724282" y="4274542"/>
            <a:ext cx="2246157" cy="38100"/>
          </a:xfrm>
          <a:prstGeom prst="roundRect">
            <a:avLst>
              <a:gd name="adj" fmla="val 49999"/>
            </a:avLst>
          </a:prstGeom>
          <a:solidFill>
            <a:srgbClr val="E8664A"/>
          </a:solidFill>
          <a:ln/>
        </p:spPr>
      </p:sp>
      <p:sp>
        <p:nvSpPr>
          <p:cNvPr id="9" name="Text 6"/>
          <p:cNvSpPr/>
          <p:nvPr/>
        </p:nvSpPr>
        <p:spPr>
          <a:xfrm>
            <a:off x="4724282" y="4471075"/>
            <a:ext cx="6807030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How algorithms scale when input size becomes very large.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063577"/>
          </a:xfrm>
          <a:prstGeom prst="rect">
            <a:avLst/>
          </a:prstGeom>
          <a:solidFill>
            <a:srgbClr val="0E3A52"/>
          </a:solidFill>
          <a:ln/>
        </p:spPr>
      </p:sp>
      <p:sp>
        <p:nvSpPr>
          <p:cNvPr id="3" name="Text 1"/>
          <p:cNvSpPr/>
          <p:nvPr/>
        </p:nvSpPr>
        <p:spPr>
          <a:xfrm>
            <a:off x="457189" y="462915"/>
            <a:ext cx="11734506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50" spc="63" kern="100" dirty="0">
                <a:solidFill>
                  <a:srgbClr val="EE8C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01 · WHY GROWTH MATTERS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457189" y="744215"/>
            <a:ext cx="11277318" cy="14628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800" dirty="0">
                <a:solidFill>
                  <a:srgbClr val="FFFFFF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-120"/>
              </a:rPr>
              <a:t>Growth matters when n becomes very large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457189" y="2366744"/>
            <a:ext cx="11734506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E3FDF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We study how running time grows as input size n becomes very large. The dominant term eventually tells the story.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0" y="3215878"/>
            <a:ext cx="12191695" cy="3206750"/>
          </a:xfrm>
          <a:prstGeom prst="rect">
            <a:avLst/>
          </a:prstGeom>
          <a:solidFill>
            <a:srgbClr val="0E3A52"/>
          </a:solidFill>
          <a:ln/>
        </p:spPr>
      </p:sp>
      <p:sp>
        <p:nvSpPr>
          <p:cNvPr id="7" name="Shape 5"/>
          <p:cNvSpPr/>
          <p:nvPr/>
        </p:nvSpPr>
        <p:spPr>
          <a:xfrm>
            <a:off x="0" y="3215878"/>
            <a:ext cx="6339721" cy="3206750"/>
          </a:xfrm>
          <a:prstGeom prst="rect">
            <a:avLst/>
          </a:prstGeom>
          <a:solidFill>
            <a:srgbClr val="E3FDF9"/>
          </a:solidFill>
          <a:ln/>
        </p:spPr>
      </p:sp>
      <p:sp>
        <p:nvSpPr>
          <p:cNvPr id="8" name="Text 6"/>
          <p:cNvSpPr/>
          <p:nvPr/>
        </p:nvSpPr>
        <p:spPr>
          <a:xfrm>
            <a:off x="228594" y="3455062"/>
            <a:ext cx="5882533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-120"/>
              </a:rPr>
              <a:t>Growth of common functions</a:t>
            </a:r>
            <a:endParaRPr lang="en-US" sz="20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8594" y="3908028"/>
            <a:ext cx="5714857" cy="228600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6644414" y="3215878"/>
            <a:ext cx="5547281" cy="3206750"/>
          </a:xfrm>
          <a:prstGeom prst="rect">
            <a:avLst/>
          </a:prstGeom>
          <a:solidFill>
            <a:srgbClr val="0E3A52"/>
          </a:solidFill>
          <a:ln/>
        </p:spPr>
      </p:sp>
      <p:sp>
        <p:nvSpPr>
          <p:cNvPr id="11" name="Text 8"/>
          <p:cNvSpPr/>
          <p:nvPr/>
        </p:nvSpPr>
        <p:spPr>
          <a:xfrm>
            <a:off x="6873009" y="3643478"/>
            <a:ext cx="5090092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-120"/>
              </a:rPr>
              <a:t>Dominant term in 3n² + 5n + 2</a:t>
            </a:r>
            <a:endParaRPr lang="en-US" sz="20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73009" y="4064695"/>
          <a:ext cx="5090092" cy="914400"/>
        </p:xfrm>
        <a:graphic>
          <a:graphicData uri="http://schemas.openxmlformats.org/drawingml/2006/table">
            <a:tbl>
              <a:tblPr/>
              <a:tblGrid>
                <a:gridCol w="916167"/>
                <a:gridCol w="1934185"/>
                <a:gridCol w="2239740"/>
              </a:tblGrid>
              <a:tr h="39726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n</a:t>
                      </a:r>
                      <a:endParaRPr lang="en-US" sz="14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4869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869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869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869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A5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3n² + 5n + 2</a:t>
                      </a:r>
                      <a:endParaRPr lang="en-US" sz="14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4869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869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869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869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A5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Share from 3n²</a:t>
                      </a:r>
                      <a:endParaRPr lang="en-US" sz="14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4869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869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869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869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A52"/>
                    </a:solidFill>
                  </a:tcPr>
                </a:tc>
              </a:tr>
              <a:tr h="39726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10</a:t>
                      </a:r>
                      <a:endParaRPr lang="en-US" sz="14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4869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869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869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869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A5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352</a:t>
                      </a:r>
                      <a:endParaRPr lang="en-US" sz="14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4869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869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869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869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A5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EE8C77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85%</a:t>
                      </a:r>
                      <a:endParaRPr lang="en-US" sz="14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4869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869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869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869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A52"/>
                    </a:solidFill>
                  </a:tcPr>
                </a:tc>
              </a:tr>
              <a:tr h="39726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100</a:t>
                      </a:r>
                      <a:endParaRPr lang="en-US" sz="14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4869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869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869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869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A5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30502</a:t>
                      </a:r>
                      <a:endParaRPr lang="en-US" sz="14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4869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869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869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869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A5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EE8C77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98.4%</a:t>
                      </a:r>
                      <a:endParaRPr lang="en-US" sz="14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4869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869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869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869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A52"/>
                    </a:solidFill>
                  </a:tcPr>
                </a:tc>
              </a:tr>
              <a:tr h="390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1000</a:t>
                      </a:r>
                      <a:endParaRPr lang="en-US" sz="14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4869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869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869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869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A5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3005002</a:t>
                      </a:r>
                      <a:endParaRPr lang="en-US" sz="14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4869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869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869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869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A5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EE8C77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99.8%</a:t>
                      </a:r>
                      <a:endParaRPr lang="en-US" sz="14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4869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869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869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869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A52"/>
                    </a:solidFill>
                  </a:tcPr>
                </a:tc>
              </a:tr>
            </a:tbl>
          </a:graphicData>
        </a:graphic>
      </p:graphicFrame>
      <p:sp>
        <p:nvSpPr>
          <p:cNvPr id="13" name="Text 9"/>
          <p:cNvSpPr/>
          <p:nvPr/>
        </p:nvSpPr>
        <p:spPr>
          <a:xfrm>
            <a:off x="6873009" y="5824597"/>
            <a:ext cx="5318686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50" dirty="0">
                <a:solidFill>
                  <a:srgbClr val="E3FDF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Conclusion: ignore constants and lower-order terms.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5" name="Shape 11"/>
          <p:cNvSpPr/>
          <p:nvPr/>
        </p:nvSpPr>
        <p:spPr>
          <a:xfrm>
            <a:off x="0" y="6400800"/>
            <a:ext cx="12191695" cy="9525"/>
          </a:xfrm>
          <a:prstGeom prst="rect">
            <a:avLst/>
          </a:prstGeom>
          <a:solidFill>
            <a:srgbClr val="000000">
              <a:alpha val="20000"/>
            </a:srgbClr>
          </a:solidFill>
          <a:ln/>
        </p:spPr>
      </p:sp>
      <p:sp>
        <p:nvSpPr>
          <p:cNvPr id="16" name="Text 12"/>
          <p:cNvSpPr/>
          <p:nvPr/>
        </p:nvSpPr>
        <p:spPr>
          <a:xfrm>
            <a:off x="177895" y="6542286"/>
            <a:ext cx="3277411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Asymptotic Notation and Growth of Functions</a:t>
            </a:r>
            <a:endParaRPr lang="en-US" sz="1000" dirty="0"/>
          </a:p>
        </p:txBody>
      </p:sp>
      <p:sp>
        <p:nvSpPr>
          <p:cNvPr id="17" name="Text 13"/>
          <p:cNvSpPr/>
          <p:nvPr/>
        </p:nvSpPr>
        <p:spPr>
          <a:xfrm>
            <a:off x="11871524" y="6542286"/>
            <a:ext cx="320171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952876" cy="6400800"/>
          </a:xfrm>
          <a:prstGeom prst="rect">
            <a:avLst/>
          </a:prstGeom>
          <a:solidFill>
            <a:srgbClr val="0E3A52"/>
          </a:solidFill>
          <a:ln/>
        </p:spPr>
      </p:sp>
      <p:sp>
        <p:nvSpPr>
          <p:cNvPr id="3" name="Text 1"/>
          <p:cNvSpPr/>
          <p:nvPr/>
        </p:nvSpPr>
        <p:spPr>
          <a:xfrm>
            <a:off x="457189" y="925969"/>
            <a:ext cx="4495688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50" spc="63" kern="100" dirty="0">
                <a:solidFill>
                  <a:srgbClr val="EE8C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02 · UPPER BOUNDS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457189" y="1207269"/>
            <a:ext cx="4038499" cy="21943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800" dirty="0">
                <a:solidFill>
                  <a:srgbClr val="FFFFFF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-120"/>
              </a:rPr>
              <a:t>Big O describes an upper bound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457189" y="3552031"/>
            <a:ext cx="4038499" cy="11541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spcAft>
                <a:spcPts val="1200"/>
              </a:spcAft>
              <a:buNone/>
            </a:pPr>
            <a:r>
              <a:rPr lang="en-US" sz="1400" dirty="0">
                <a:solidFill>
                  <a:srgbClr val="E3FDF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f(n) = O(g(n)) if there are constants c &gt; 0 and n₀ such that f(n) ≤ c·g(n) for all n ≥ n₀.</a:t>
            </a:r>
            <a:endParaRPr lang="en-US" sz="1400" dirty="0"/>
          </a:p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E3FDF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Think: f(n) grows no faster than a constant multiple of g(n).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63846" y="4927674"/>
            <a:ext cx="1456296" cy="1636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F(N) ≤ C·G(N)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189" y="5299531"/>
            <a:ext cx="4495688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50" dirty="0">
                <a:solidFill>
                  <a:srgbClr val="E3FDF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Example: 3n + 10 ≤ 4n for n ≥ 10, so 3n + 10 = O(n).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5257668" y="0"/>
            <a:ext cx="6934027" cy="6400800"/>
          </a:xfrm>
          <a:prstGeom prst="rect">
            <a:avLst/>
          </a:prstGeom>
          <a:solidFill>
            <a:srgbClr val="E3FDF9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78912" y="1295400"/>
            <a:ext cx="4691540" cy="3809901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6534951" y="4119230"/>
            <a:ext cx="1297184" cy="127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FFFFFF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-120"/>
              </a:rPr>
              <a:t>f(n)</a:t>
            </a:r>
            <a:endParaRPr lang="en-US" sz="85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51317" y="2660644"/>
            <a:ext cx="473836" cy="47384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8083127" y="3720448"/>
            <a:ext cx="1264344" cy="127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FFFFFF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-120"/>
              </a:rPr>
              <a:t>c·g(n)</a:t>
            </a:r>
            <a:endParaRPr lang="en-US" sz="850" dirty="0"/>
          </a:p>
        </p:txBody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80727" y="2252478"/>
            <a:ext cx="473836" cy="473848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9603154" y="3316974"/>
            <a:ext cx="1297184" cy="1276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FFFFFF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-120"/>
              </a:rPr>
              <a:t>n₀</a:t>
            </a:r>
            <a:endParaRPr lang="en-US" sz="850" dirty="0"/>
          </a:p>
        </p:txBody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10137" y="1849004"/>
            <a:ext cx="473835" cy="473848"/>
          </a:xfrm>
          <a:prstGeom prst="rect">
            <a:avLst/>
          </a:prstGeom>
        </p:spPr>
      </p:pic>
      <p:sp>
        <p:nvSpPr>
          <p:cNvPr id="16" name="Shape 10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" name="Shape 11"/>
          <p:cNvSpPr/>
          <p:nvPr/>
        </p:nvSpPr>
        <p:spPr>
          <a:xfrm>
            <a:off x="0" y="6400800"/>
            <a:ext cx="12191695" cy="9525"/>
          </a:xfrm>
          <a:prstGeom prst="rect">
            <a:avLst/>
          </a:prstGeom>
          <a:solidFill>
            <a:srgbClr val="000000">
              <a:alpha val="20000"/>
            </a:srgbClr>
          </a:solidFill>
          <a:ln/>
        </p:spPr>
      </p:sp>
      <p:sp>
        <p:nvSpPr>
          <p:cNvPr id="18" name="Text 12"/>
          <p:cNvSpPr/>
          <p:nvPr/>
        </p:nvSpPr>
        <p:spPr>
          <a:xfrm>
            <a:off x="177895" y="6542286"/>
            <a:ext cx="3277411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Asymptotic Notation and Growth of Functions</a:t>
            </a:r>
            <a:endParaRPr lang="en-US" sz="1000" dirty="0"/>
          </a:p>
        </p:txBody>
      </p:sp>
      <p:sp>
        <p:nvSpPr>
          <p:cNvPr id="19" name="Text 13"/>
          <p:cNvSpPr/>
          <p:nvPr/>
        </p:nvSpPr>
        <p:spPr>
          <a:xfrm>
            <a:off x="11871524" y="6542286"/>
            <a:ext cx="320171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790204"/>
          </a:xfrm>
          <a:prstGeom prst="rect">
            <a:avLst/>
          </a:prstGeom>
          <a:solidFill>
            <a:srgbClr val="0E3A52"/>
          </a:solidFill>
          <a:ln/>
        </p:spPr>
      </p:sp>
      <p:sp>
        <p:nvSpPr>
          <p:cNvPr id="3" name="Text 1"/>
          <p:cNvSpPr/>
          <p:nvPr/>
        </p:nvSpPr>
        <p:spPr>
          <a:xfrm>
            <a:off x="457189" y="463410"/>
            <a:ext cx="11734506" cy="1033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7000"/>
              </a:lnSpc>
              <a:buNone/>
            </a:pPr>
            <a:r>
              <a:rPr lang="en-US" sz="700" spc="42" kern="100" dirty="0">
                <a:solidFill>
                  <a:srgbClr val="EE8C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03 · BOUNDS TOGETHER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457189" y="609155"/>
            <a:ext cx="11277318" cy="486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200" dirty="0">
                <a:solidFill>
                  <a:srgbClr val="FFFFFF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-120"/>
              </a:rPr>
              <a:t>Ω is a lower bound; Θ is a tight bound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189" y="1202524"/>
            <a:ext cx="11734506" cy="1378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7000"/>
              </a:lnSpc>
              <a:buNone/>
            </a:pPr>
            <a:r>
              <a:rPr lang="en-US" sz="950" dirty="0">
                <a:solidFill>
                  <a:srgbClr val="E3FDF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 tight bound captures both the ceiling and the floor of f(n).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0" y="1942604"/>
            <a:ext cx="5943451" cy="3938191"/>
          </a:xfrm>
          <a:prstGeom prst="rect">
            <a:avLst/>
          </a:prstGeom>
          <a:solidFill>
            <a:srgbClr val="E3FDF9"/>
          </a:solidFill>
          <a:ln/>
        </p:spPr>
      </p:sp>
      <p:sp>
        <p:nvSpPr>
          <p:cNvPr id="7" name="Text 5"/>
          <p:cNvSpPr/>
          <p:nvPr/>
        </p:nvSpPr>
        <p:spPr>
          <a:xfrm>
            <a:off x="350333" y="2214655"/>
            <a:ext cx="1440819" cy="1086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750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Ω · LOWER BOUND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279393" y="2406622"/>
            <a:ext cx="5384665" cy="3242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150" dirty="0">
                <a:solidFill>
                  <a:srgbClr val="000000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-120"/>
              </a:rPr>
              <a:t>f(n) ≥ c·g(n)</a:t>
            </a:r>
            <a:endParaRPr lang="en-US" sz="215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29696" y="2777331"/>
            <a:ext cx="3284058" cy="2666901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438931" y="4768974"/>
            <a:ext cx="908019" cy="593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400" dirty="0">
                <a:solidFill>
                  <a:srgbClr val="000000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-120"/>
              </a:rPr>
              <a:t>Threshold n₀</a:t>
            </a:r>
            <a:endParaRPr lang="en-US" sz="4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0384" y="3732992"/>
            <a:ext cx="331681" cy="331689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522642" y="4489829"/>
            <a:ext cx="885031" cy="593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400" dirty="0">
                <a:solidFill>
                  <a:srgbClr val="000000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-120"/>
              </a:rPr>
              <a:t>f(n) Above</a:t>
            </a:r>
            <a:endParaRPr lang="en-US" sz="400" dirty="0"/>
          </a:p>
        </p:txBody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00959" y="3447278"/>
            <a:ext cx="331681" cy="33169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3586649" y="4207401"/>
            <a:ext cx="908019" cy="593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400" dirty="0">
                <a:solidFill>
                  <a:srgbClr val="000000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-120"/>
              </a:rPr>
              <a:t>c·g(n) Comparison</a:t>
            </a:r>
            <a:endParaRPr lang="en-US" sz="400" dirty="0"/>
          </a:p>
        </p:txBody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71534" y="3164850"/>
            <a:ext cx="331681" cy="331689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279393" y="5521714"/>
            <a:ext cx="5664058" cy="1378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7000"/>
              </a:lnSpc>
              <a:buNone/>
            </a:pPr>
            <a:r>
              <a:rPr lang="en-US" sz="950" dirty="0">
                <a:solidFill>
                  <a:srgbClr val="0F222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Example: 3n + 10 = Ω(n).</a:t>
            </a:r>
            <a:endParaRPr lang="en-US" sz="950" dirty="0"/>
          </a:p>
        </p:txBody>
      </p:sp>
      <p:sp>
        <p:nvSpPr>
          <p:cNvPr id="17" name="Shape 11"/>
          <p:cNvSpPr/>
          <p:nvPr/>
        </p:nvSpPr>
        <p:spPr>
          <a:xfrm>
            <a:off x="6248244" y="1942604"/>
            <a:ext cx="5943451" cy="3938191"/>
          </a:xfrm>
          <a:prstGeom prst="rect">
            <a:avLst/>
          </a:prstGeom>
          <a:solidFill>
            <a:srgbClr val="E3FDF9"/>
          </a:solidFill>
          <a:ln/>
        </p:spPr>
      </p:sp>
      <p:sp>
        <p:nvSpPr>
          <p:cNvPr id="18" name="Text 12"/>
          <p:cNvSpPr/>
          <p:nvPr/>
        </p:nvSpPr>
        <p:spPr>
          <a:xfrm>
            <a:off x="6598576" y="2214655"/>
            <a:ext cx="1403116" cy="1086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750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Θ · TIGHT BOUND</a:t>
            </a:r>
            <a:endParaRPr lang="en-US" sz="750" dirty="0"/>
          </a:p>
        </p:txBody>
      </p:sp>
      <p:sp>
        <p:nvSpPr>
          <p:cNvPr id="19" name="Text 13"/>
          <p:cNvSpPr/>
          <p:nvPr/>
        </p:nvSpPr>
        <p:spPr>
          <a:xfrm>
            <a:off x="6527637" y="2406622"/>
            <a:ext cx="5384665" cy="3242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150" dirty="0">
                <a:solidFill>
                  <a:srgbClr val="000000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-120"/>
              </a:rPr>
              <a:t>c₁·g(n) ≤ f(n) ≤ c₂·g(n)</a:t>
            </a:r>
            <a:endParaRPr lang="en-US" sz="2150" dirty="0"/>
          </a:p>
        </p:txBody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59952" y="2777331"/>
            <a:ext cx="3919936" cy="2666901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7378220" y="4817482"/>
            <a:ext cx="810177" cy="708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450" dirty="0">
                <a:solidFill>
                  <a:srgbClr val="FFFFFF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-120"/>
              </a:rPr>
              <a:t>c₁·g(n)</a:t>
            </a:r>
            <a:endParaRPr lang="en-US" sz="450" dirty="0"/>
          </a:p>
        </p:txBody>
      </p:sp>
      <p:pic>
        <p:nvPicPr>
          <p:cNvPr id="2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36315" y="3898426"/>
            <a:ext cx="293986" cy="293994"/>
          </a:xfrm>
          <a:prstGeom prst="rect">
            <a:avLst/>
          </a:prstGeom>
        </p:spPr>
      </p:pic>
      <p:sp>
        <p:nvSpPr>
          <p:cNvPr id="23" name="Text 15"/>
          <p:cNvSpPr/>
          <p:nvPr/>
        </p:nvSpPr>
        <p:spPr>
          <a:xfrm>
            <a:off x="8338574" y="4566607"/>
            <a:ext cx="810177" cy="708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450" dirty="0">
                <a:solidFill>
                  <a:srgbClr val="FFFFFF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-120"/>
              </a:rPr>
              <a:t>f(n)</a:t>
            </a:r>
            <a:endParaRPr lang="en-US" sz="450" dirty="0"/>
          </a:p>
        </p:txBody>
      </p:sp>
      <p:pic>
        <p:nvPicPr>
          <p:cNvPr id="24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92750" y="3647551"/>
            <a:ext cx="293986" cy="293993"/>
          </a:xfrm>
          <a:prstGeom prst="rect">
            <a:avLst/>
          </a:prstGeom>
        </p:spPr>
      </p:pic>
      <p:sp>
        <p:nvSpPr>
          <p:cNvPr id="25" name="Text 16"/>
          <p:cNvSpPr/>
          <p:nvPr/>
        </p:nvSpPr>
        <p:spPr>
          <a:xfrm>
            <a:off x="9291089" y="4315733"/>
            <a:ext cx="810177" cy="708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450" dirty="0">
                <a:solidFill>
                  <a:srgbClr val="FFFFFF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-120"/>
              </a:rPr>
              <a:t>c₂·g(n)</a:t>
            </a:r>
            <a:endParaRPr lang="en-US" sz="450" dirty="0"/>
          </a:p>
        </p:txBody>
      </p:sp>
      <p:pic>
        <p:nvPicPr>
          <p:cNvPr id="26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545264" y="3392757"/>
            <a:ext cx="293986" cy="293993"/>
          </a:xfrm>
          <a:prstGeom prst="rect">
            <a:avLst/>
          </a:prstGeom>
        </p:spPr>
      </p:pic>
      <p:sp>
        <p:nvSpPr>
          <p:cNvPr id="27" name="Text 17"/>
          <p:cNvSpPr/>
          <p:nvPr/>
        </p:nvSpPr>
        <p:spPr>
          <a:xfrm>
            <a:off x="10243604" y="4060939"/>
            <a:ext cx="810176" cy="708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450" dirty="0">
                <a:solidFill>
                  <a:srgbClr val="FFFFFF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-120"/>
              </a:rPr>
              <a:t>n₀</a:t>
            </a:r>
            <a:endParaRPr lang="en-US" sz="450" dirty="0"/>
          </a:p>
        </p:txBody>
      </p:sp>
      <p:pic>
        <p:nvPicPr>
          <p:cNvPr id="28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501699" y="3141883"/>
            <a:ext cx="293986" cy="293993"/>
          </a:xfrm>
          <a:prstGeom prst="rect">
            <a:avLst/>
          </a:prstGeom>
        </p:spPr>
      </p:pic>
      <p:sp>
        <p:nvSpPr>
          <p:cNvPr id="29" name="Text 18"/>
          <p:cNvSpPr/>
          <p:nvPr/>
        </p:nvSpPr>
        <p:spPr>
          <a:xfrm>
            <a:off x="6527637" y="5521714"/>
            <a:ext cx="5664058" cy="1378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7000"/>
              </a:lnSpc>
              <a:buNone/>
            </a:pPr>
            <a:r>
              <a:rPr lang="en-US" sz="950" dirty="0">
                <a:solidFill>
                  <a:srgbClr val="0F222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Example: 3n + 10 = Θ(n).</a:t>
            </a:r>
            <a:endParaRPr lang="en-US" sz="950" dirty="0"/>
          </a:p>
        </p:txBody>
      </p:sp>
      <p:sp>
        <p:nvSpPr>
          <p:cNvPr id="30" name="Shape 19"/>
          <p:cNvSpPr/>
          <p:nvPr/>
        </p:nvSpPr>
        <p:spPr>
          <a:xfrm>
            <a:off x="0" y="6033195"/>
            <a:ext cx="12191695" cy="828774"/>
          </a:xfrm>
          <a:prstGeom prst="rect">
            <a:avLst/>
          </a:prstGeom>
          <a:solidFill>
            <a:srgbClr val="E8664A"/>
          </a:solidFill>
          <a:ln/>
        </p:spPr>
      </p:sp>
      <p:sp>
        <p:nvSpPr>
          <p:cNvPr id="31" name="Text 20"/>
          <p:cNvSpPr/>
          <p:nvPr/>
        </p:nvSpPr>
        <p:spPr>
          <a:xfrm>
            <a:off x="355591" y="6292734"/>
            <a:ext cx="11480513" cy="4223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3350" dirty="0">
                <a:solidFill>
                  <a:srgbClr val="262626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-120"/>
              </a:rPr>
              <a:t>Θ means both O and Ω.</a:t>
            </a:r>
            <a:endParaRPr lang="en-US" sz="3350" dirty="0"/>
          </a:p>
        </p:txBody>
      </p:sp>
      <p:sp>
        <p:nvSpPr>
          <p:cNvPr id="32" name="Shape 21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3" name="Shape 22"/>
          <p:cNvSpPr/>
          <p:nvPr/>
        </p:nvSpPr>
        <p:spPr>
          <a:xfrm>
            <a:off x="0" y="6400800"/>
            <a:ext cx="12191695" cy="9525"/>
          </a:xfrm>
          <a:prstGeom prst="rect">
            <a:avLst/>
          </a:prstGeom>
          <a:solidFill>
            <a:srgbClr val="000000">
              <a:alpha val="20000"/>
            </a:srgbClr>
          </a:solidFill>
          <a:ln/>
        </p:spPr>
      </p:sp>
      <p:sp>
        <p:nvSpPr>
          <p:cNvPr id="34" name="Text 23"/>
          <p:cNvSpPr/>
          <p:nvPr/>
        </p:nvSpPr>
        <p:spPr>
          <a:xfrm>
            <a:off x="177895" y="6542286"/>
            <a:ext cx="3277411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Asymptotic Notation and Growth of Functions</a:t>
            </a:r>
            <a:endParaRPr lang="en-US" sz="1000" dirty="0"/>
          </a:p>
        </p:txBody>
      </p:sp>
      <p:sp>
        <p:nvSpPr>
          <p:cNvPr id="35" name="Text 24"/>
          <p:cNvSpPr/>
          <p:nvPr/>
        </p:nvSpPr>
        <p:spPr>
          <a:xfrm>
            <a:off x="11871524" y="6542286"/>
            <a:ext cx="320171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552502"/>
          </a:xfrm>
          <a:prstGeom prst="rect">
            <a:avLst/>
          </a:prstGeom>
          <a:solidFill>
            <a:srgbClr val="0E3A52"/>
          </a:solidFill>
          <a:ln/>
        </p:spPr>
      </p:sp>
      <p:sp>
        <p:nvSpPr>
          <p:cNvPr id="3" name="Text 1"/>
          <p:cNvSpPr/>
          <p:nvPr/>
        </p:nvSpPr>
        <p:spPr>
          <a:xfrm>
            <a:off x="355591" y="420648"/>
            <a:ext cx="11836104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50" spc="63" kern="100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04 · A TIGHT-BOUND PROOF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355591" y="701948"/>
            <a:ext cx="11480513" cy="14628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800" dirty="0">
                <a:solidFill>
                  <a:srgbClr val="FFFFFF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-120"/>
              </a:rPr>
              <a:t>Compare the symbols, then prove a tight bound</a:t>
            </a:r>
            <a:endParaRPr lang="en-US" sz="4800" dirty="0"/>
          </a:p>
        </p:txBody>
      </p:sp>
      <p:sp>
        <p:nvSpPr>
          <p:cNvPr id="5" name="Shape 3"/>
          <p:cNvSpPr/>
          <p:nvPr/>
        </p:nvSpPr>
        <p:spPr>
          <a:xfrm>
            <a:off x="0" y="2857302"/>
            <a:ext cx="5943451" cy="3543498"/>
          </a:xfrm>
          <a:prstGeom prst="rect">
            <a:avLst/>
          </a:prstGeom>
          <a:solidFill>
            <a:srgbClr val="E3FDF9"/>
          </a:solidFill>
          <a:ln/>
        </p:spPr>
      </p:sp>
      <p:sp>
        <p:nvSpPr>
          <p:cNvPr id="6" name="Text 4"/>
          <p:cNvSpPr/>
          <p:nvPr/>
        </p:nvSpPr>
        <p:spPr>
          <a:xfrm>
            <a:off x="330192" y="4211340"/>
            <a:ext cx="5283068" cy="8354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84480" indent="-284480">
              <a:lnSpc>
                <a:spcPct val="117000"/>
              </a:lnSpc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For n ≥ 1: 3n² + 5n + 2 ≤ 10n², so it is O(n²).</a:t>
            </a:r>
            <a:endParaRPr lang="en-US" sz="1400" dirty="0"/>
          </a:p>
          <a:p>
            <a:pPr algn="l" marL="284480" indent="-284480">
              <a:lnSpc>
                <a:spcPct val="117000"/>
              </a:lnSpc>
              <a:buSzPct val="100000"/>
              <a:buFont typeface="+mj-lt"/>
              <a:buAutoNum type="arabicPeriod" startAt="2"/>
            </a:pPr>
            <a:r>
              <a:rPr lang="en-US" sz="1400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For n ≥ 1: 3n² + 5n + 2 ≥ 3n², so it is Ω(n²).</a:t>
            </a:r>
            <a:endParaRPr lang="en-US" sz="1400" dirty="0"/>
          </a:p>
          <a:p>
            <a:pPr algn="l" marL="284480" indent="-284480">
              <a:lnSpc>
                <a:spcPct val="117000"/>
              </a:lnSpc>
              <a:buSzPct val="100000"/>
              <a:buFont typeface="+mj-lt"/>
              <a:buAutoNum type="arabicPeriod" startAt="3"/>
            </a:pPr>
            <a:r>
              <a:rPr lang="en-US" sz="1400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Therefore 3n² + 5n + 2 = Θ(n²).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248244" y="2857302"/>
            <a:ext cx="5943451" cy="3543498"/>
          </a:xfrm>
          <a:prstGeom prst="rect">
            <a:avLst/>
          </a:prstGeom>
          <a:solidFill>
            <a:srgbClr val="E3FDF9"/>
          </a:solidFill>
          <a:ln/>
        </p:spPr>
      </p:sp>
      <p:sp>
        <p:nvSpPr>
          <p:cNvPr id="8" name="Text 6"/>
          <p:cNvSpPr/>
          <p:nvPr/>
        </p:nvSpPr>
        <p:spPr>
          <a:xfrm>
            <a:off x="6553036" y="3155686"/>
            <a:ext cx="5333867" cy="975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200" dirty="0">
                <a:solidFill>
                  <a:srgbClr val="000000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-120"/>
              </a:rPr>
              <a:t>One expression, three readings</a:t>
            </a:r>
            <a:endParaRPr lang="en-US" sz="32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553036" y="4289822"/>
          <a:ext cx="5333867" cy="914400"/>
        </p:xfrm>
        <a:graphic>
          <a:graphicData uri="http://schemas.openxmlformats.org/drawingml/2006/table">
            <a:tbl>
              <a:tblPr/>
              <a:tblGrid>
                <a:gridCol w="1333467"/>
                <a:gridCol w="1866853"/>
                <a:gridCol w="2133547"/>
              </a:tblGrid>
              <a:tr h="39726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Symbol</a:t>
                      </a:r>
                      <a:endParaRPr lang="en-US" sz="14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E3FD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FD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FD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D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Meaning</a:t>
                      </a:r>
                      <a:endParaRPr lang="en-US" sz="14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E3FD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FD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FD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D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Example</a:t>
                      </a:r>
                      <a:endParaRPr lang="en-US" sz="14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E3FD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FD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FD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DF9"/>
                    </a:solidFill>
                  </a:tcPr>
                </a:tc>
              </a:tr>
              <a:tr h="39726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O(g(n))</a:t>
                      </a:r>
                      <a:endParaRPr lang="en-US" sz="14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E3FD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FD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D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At most</a:t>
                      </a:r>
                      <a:endParaRPr lang="en-US" sz="14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E3FD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FD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D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3n + 10 = O(n)</a:t>
                      </a:r>
                      <a:endParaRPr lang="en-US" sz="14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E3FD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FD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DF9"/>
                    </a:solidFill>
                  </a:tcPr>
                </a:tc>
              </a:tr>
              <a:tr h="39726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Ω(g(n))</a:t>
                      </a:r>
                      <a:endParaRPr lang="en-US" sz="14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E3FD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FD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D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At least</a:t>
                      </a:r>
                      <a:endParaRPr lang="en-US" sz="14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E3FD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FD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D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3n + 10 = Ω(n)</a:t>
                      </a:r>
                      <a:endParaRPr lang="en-US" sz="14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E3FD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FD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DF9"/>
                    </a:solidFill>
                  </a:tcPr>
                </a:tc>
              </a:tr>
              <a:tr h="63974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Θ(g(n))</a:t>
                      </a:r>
                      <a:endParaRPr lang="en-US" sz="14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E3FD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FD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FD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D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Exactly this order; tight</a:t>
                      </a:r>
                      <a:endParaRPr lang="en-US" sz="14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E3FD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FD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FD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D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3n + 10 = Θ(n)</a:t>
                      </a:r>
                      <a:endParaRPr lang="en-US" sz="14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E3FD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FD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FD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DF9"/>
                    </a:solidFill>
                  </a:tcPr>
                </a:tc>
              </a:tr>
            </a:tbl>
          </a:graphicData>
        </a:graphic>
      </p:graphicFrame>
      <p:sp>
        <p:nvSpPr>
          <p:cNvPr id="10" name="Shape 7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" name="Shape 8"/>
          <p:cNvSpPr/>
          <p:nvPr/>
        </p:nvSpPr>
        <p:spPr>
          <a:xfrm>
            <a:off x="0" y="6400800"/>
            <a:ext cx="12191695" cy="9525"/>
          </a:xfrm>
          <a:prstGeom prst="rect">
            <a:avLst/>
          </a:prstGeom>
          <a:solidFill>
            <a:srgbClr val="000000">
              <a:alpha val="20000"/>
            </a:srgbClr>
          </a:solidFill>
          <a:ln/>
        </p:spPr>
      </p:sp>
      <p:sp>
        <p:nvSpPr>
          <p:cNvPr id="12" name="Text 9"/>
          <p:cNvSpPr/>
          <p:nvPr/>
        </p:nvSpPr>
        <p:spPr>
          <a:xfrm>
            <a:off x="177895" y="6542286"/>
            <a:ext cx="3277411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Asymptotic Notation and Growth of Functions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11871524" y="6542286"/>
            <a:ext cx="320171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332137"/>
          </a:xfrm>
          <a:prstGeom prst="rect">
            <a:avLst/>
          </a:prstGeom>
          <a:solidFill>
            <a:srgbClr val="0E3A52"/>
          </a:solidFill>
          <a:ln/>
        </p:spPr>
      </p:sp>
      <p:sp>
        <p:nvSpPr>
          <p:cNvPr id="3" name="Text 1"/>
          <p:cNvSpPr/>
          <p:nvPr/>
        </p:nvSpPr>
        <p:spPr>
          <a:xfrm>
            <a:off x="457189" y="462915"/>
            <a:ext cx="11734506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50" spc="63" kern="100" dirty="0">
                <a:solidFill>
                  <a:srgbClr val="EE8C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05 · RULES OF THUMB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457189" y="744215"/>
            <a:ext cx="11277318" cy="7314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800" dirty="0">
                <a:solidFill>
                  <a:srgbClr val="FFFFFF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-120"/>
              </a:rPr>
              <a:t>Six useful properties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457189" y="1635304"/>
            <a:ext cx="11734506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E3FDF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These identities make asymptotic reasoning faster and cleaner.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0" y="2484537"/>
            <a:ext cx="3987700" cy="1881882"/>
          </a:xfrm>
          <a:prstGeom prst="rect">
            <a:avLst/>
          </a:prstGeom>
          <a:solidFill>
            <a:srgbClr val="E3FDF9"/>
          </a:solidFill>
          <a:ln/>
        </p:spPr>
      </p:sp>
      <p:sp>
        <p:nvSpPr>
          <p:cNvPr id="7" name="Shape 5"/>
          <p:cNvSpPr/>
          <p:nvPr/>
        </p:nvSpPr>
        <p:spPr>
          <a:xfrm>
            <a:off x="203195" y="2662337"/>
            <a:ext cx="311142" cy="311150"/>
          </a:xfrm>
          <a:prstGeom prst="ellipse">
            <a:avLst/>
          </a:prstGeom>
          <a:solidFill>
            <a:srgbClr val="0E3A52"/>
          </a:solidFill>
          <a:ln w="6350">
            <a:solidFill>
              <a:srgbClr val="D8D4D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56970" y="2729012"/>
            <a:ext cx="813077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-120"/>
              </a:rPr>
              <a:t>01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203195" y="3287779"/>
            <a:ext cx="358131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0F2229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-120"/>
              </a:rPr>
              <a:t>Reflexive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203195" y="3718203"/>
            <a:ext cx="3784505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0F222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 = Θ(f)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140096" y="2484537"/>
            <a:ext cx="3911502" cy="1881882"/>
          </a:xfrm>
          <a:prstGeom prst="rect">
            <a:avLst/>
          </a:prstGeom>
          <a:solidFill>
            <a:srgbClr val="E3FDF9"/>
          </a:solidFill>
          <a:ln/>
        </p:spPr>
      </p:sp>
      <p:sp>
        <p:nvSpPr>
          <p:cNvPr id="12" name="Shape 10"/>
          <p:cNvSpPr/>
          <p:nvPr/>
        </p:nvSpPr>
        <p:spPr>
          <a:xfrm>
            <a:off x="4343291" y="2662337"/>
            <a:ext cx="311142" cy="311150"/>
          </a:xfrm>
          <a:prstGeom prst="ellipse">
            <a:avLst/>
          </a:prstGeom>
          <a:solidFill>
            <a:srgbClr val="0E3A52"/>
          </a:solidFill>
          <a:ln w="6350">
            <a:solidFill>
              <a:srgbClr val="D8D4D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397067" y="2729012"/>
            <a:ext cx="813077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-120"/>
              </a:rPr>
              <a:t>02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343291" y="3287779"/>
            <a:ext cx="3505112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0F2229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-120"/>
              </a:rPr>
              <a:t>Transitive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4343291" y="3718203"/>
            <a:ext cx="3708307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0F222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 = O(g) and g = O(h) give f = O(h)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8203995" y="2484537"/>
            <a:ext cx="3987700" cy="1881882"/>
          </a:xfrm>
          <a:prstGeom prst="rect">
            <a:avLst/>
          </a:prstGeom>
          <a:solidFill>
            <a:srgbClr val="E3FDF9"/>
          </a:solidFill>
          <a:ln/>
        </p:spPr>
      </p:sp>
      <p:sp>
        <p:nvSpPr>
          <p:cNvPr id="17" name="Shape 15"/>
          <p:cNvSpPr/>
          <p:nvPr/>
        </p:nvSpPr>
        <p:spPr>
          <a:xfrm>
            <a:off x="8407190" y="2662337"/>
            <a:ext cx="311142" cy="311150"/>
          </a:xfrm>
          <a:prstGeom prst="ellipse">
            <a:avLst/>
          </a:prstGeom>
          <a:solidFill>
            <a:srgbClr val="0E3A52"/>
          </a:solidFill>
          <a:ln w="6350">
            <a:solidFill>
              <a:srgbClr val="D8D4D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460965" y="2729012"/>
            <a:ext cx="813077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-120"/>
              </a:rPr>
              <a:t>03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407190" y="3287779"/>
            <a:ext cx="358131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0F2229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-120"/>
              </a:rPr>
              <a:t>Symmetric for Θ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8407190" y="3718203"/>
            <a:ext cx="3784505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0F222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 = Θ(g) if and only if g = Θ(f)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0" y="4518819"/>
            <a:ext cx="3987700" cy="1881981"/>
          </a:xfrm>
          <a:prstGeom prst="rect">
            <a:avLst/>
          </a:prstGeom>
          <a:solidFill>
            <a:srgbClr val="E3FDF9"/>
          </a:solidFill>
          <a:ln/>
        </p:spPr>
      </p:sp>
      <p:sp>
        <p:nvSpPr>
          <p:cNvPr id="22" name="Shape 20"/>
          <p:cNvSpPr/>
          <p:nvPr/>
        </p:nvSpPr>
        <p:spPr>
          <a:xfrm>
            <a:off x="203195" y="4696619"/>
            <a:ext cx="311142" cy="311150"/>
          </a:xfrm>
          <a:prstGeom prst="ellipse">
            <a:avLst/>
          </a:prstGeom>
          <a:solidFill>
            <a:srgbClr val="0E3A52"/>
          </a:solidFill>
          <a:ln w="6350">
            <a:solidFill>
              <a:srgbClr val="D8D4D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56970" y="4763294"/>
            <a:ext cx="813077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-120"/>
              </a:rPr>
              <a:t>04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203195" y="5322160"/>
            <a:ext cx="358131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0F2229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-120"/>
              </a:rPr>
              <a:t>Transpose symmetry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203195" y="5752584"/>
            <a:ext cx="3784505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0F222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 = O(g) if and only if g = Ω(f)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4140096" y="4518819"/>
            <a:ext cx="3911502" cy="1881981"/>
          </a:xfrm>
          <a:prstGeom prst="rect">
            <a:avLst/>
          </a:prstGeom>
          <a:solidFill>
            <a:srgbClr val="E3FDF9"/>
          </a:solidFill>
          <a:ln/>
        </p:spPr>
      </p:sp>
      <p:sp>
        <p:nvSpPr>
          <p:cNvPr id="27" name="Shape 25"/>
          <p:cNvSpPr/>
          <p:nvPr/>
        </p:nvSpPr>
        <p:spPr>
          <a:xfrm>
            <a:off x="4343291" y="4696619"/>
            <a:ext cx="311142" cy="311150"/>
          </a:xfrm>
          <a:prstGeom prst="ellipse">
            <a:avLst/>
          </a:prstGeom>
          <a:solidFill>
            <a:srgbClr val="0E3A52"/>
          </a:solidFill>
          <a:ln w="6350">
            <a:solidFill>
              <a:srgbClr val="D8D4D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397067" y="4763294"/>
            <a:ext cx="813077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-120"/>
              </a:rPr>
              <a:t>05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4343291" y="5322160"/>
            <a:ext cx="3505112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0F2229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-120"/>
              </a:rPr>
              <a:t>Sum rule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4343291" y="5752584"/>
            <a:ext cx="3708307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0F222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O(f) + O(g) = O(max(f, g))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8203995" y="4518819"/>
            <a:ext cx="3987700" cy="1881981"/>
          </a:xfrm>
          <a:prstGeom prst="rect">
            <a:avLst/>
          </a:prstGeom>
          <a:solidFill>
            <a:srgbClr val="E3FDF9"/>
          </a:solidFill>
          <a:ln/>
        </p:spPr>
      </p:sp>
      <p:sp>
        <p:nvSpPr>
          <p:cNvPr id="32" name="Shape 30"/>
          <p:cNvSpPr/>
          <p:nvPr/>
        </p:nvSpPr>
        <p:spPr>
          <a:xfrm>
            <a:off x="8407190" y="4696619"/>
            <a:ext cx="311142" cy="311150"/>
          </a:xfrm>
          <a:prstGeom prst="ellipse">
            <a:avLst/>
          </a:prstGeom>
          <a:solidFill>
            <a:srgbClr val="0E3A52"/>
          </a:solidFill>
          <a:ln w="6350">
            <a:solidFill>
              <a:srgbClr val="D8D4D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460965" y="4763294"/>
            <a:ext cx="813077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-120"/>
              </a:rPr>
              <a:t>06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8407190" y="5322160"/>
            <a:ext cx="358131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0F2229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-120"/>
              </a:rPr>
              <a:t>Product rule</a:t>
            </a:r>
            <a:endParaRPr lang="en-US" sz="2000" dirty="0"/>
          </a:p>
        </p:txBody>
      </p:sp>
      <p:sp>
        <p:nvSpPr>
          <p:cNvPr id="35" name="Text 33"/>
          <p:cNvSpPr/>
          <p:nvPr/>
        </p:nvSpPr>
        <p:spPr>
          <a:xfrm>
            <a:off x="8407190" y="5752584"/>
            <a:ext cx="3784505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0F222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O(f)·O(g) = O(f·g)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7" name="Shape 35"/>
          <p:cNvSpPr/>
          <p:nvPr/>
        </p:nvSpPr>
        <p:spPr>
          <a:xfrm>
            <a:off x="0" y="6400800"/>
            <a:ext cx="12191695" cy="9525"/>
          </a:xfrm>
          <a:prstGeom prst="rect">
            <a:avLst/>
          </a:prstGeom>
          <a:solidFill>
            <a:srgbClr val="000000">
              <a:alpha val="20000"/>
            </a:srgbClr>
          </a:solidFill>
          <a:ln/>
        </p:spPr>
      </p:sp>
      <p:sp>
        <p:nvSpPr>
          <p:cNvPr id="38" name="Text 36"/>
          <p:cNvSpPr/>
          <p:nvPr/>
        </p:nvSpPr>
        <p:spPr>
          <a:xfrm>
            <a:off x="177895" y="6542286"/>
            <a:ext cx="3277411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Asymptotic Notation and Growth of Functions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11871524" y="6542286"/>
            <a:ext cx="320171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332137"/>
          </a:xfrm>
          <a:prstGeom prst="rect">
            <a:avLst/>
          </a:prstGeom>
          <a:solidFill>
            <a:srgbClr val="0E3A52"/>
          </a:solidFill>
          <a:ln/>
        </p:spPr>
      </p:sp>
      <p:sp>
        <p:nvSpPr>
          <p:cNvPr id="3" name="Text 1"/>
          <p:cNvSpPr/>
          <p:nvPr/>
        </p:nvSpPr>
        <p:spPr>
          <a:xfrm>
            <a:off x="457189" y="462915"/>
            <a:ext cx="11734506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50" spc="63" kern="100" dirty="0">
                <a:solidFill>
                  <a:srgbClr val="EE8C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06 · COMMON RUNNING TIMES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457189" y="744215"/>
            <a:ext cx="11277318" cy="7314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800" dirty="0">
                <a:solidFill>
                  <a:srgbClr val="FFFFFF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-120"/>
              </a:rPr>
              <a:t>Logarithmic and polynomial times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457189" y="1635304"/>
            <a:ext cx="11734506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E3FDF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Both are useful because they grow slowly enough for many practical inputs.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0" y="2484537"/>
            <a:ext cx="5943451" cy="3916263"/>
          </a:xfrm>
          <a:prstGeom prst="rect">
            <a:avLst/>
          </a:prstGeom>
          <a:solidFill>
            <a:srgbClr val="E3FDF9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4792" y="3320752"/>
            <a:ext cx="355591" cy="3556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304792" y="3854087"/>
            <a:ext cx="5333867" cy="4876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200" dirty="0">
                <a:solidFill>
                  <a:srgbClr val="0F2229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-120"/>
              </a:rPr>
              <a:t>Logarithmic — O(log n)</a:t>
            </a:r>
            <a:endParaRPr lang="en-US" sz="3200" dirty="0"/>
          </a:p>
        </p:txBody>
      </p:sp>
      <p:sp>
        <p:nvSpPr>
          <p:cNvPr id="9" name="Text 6"/>
          <p:cNvSpPr/>
          <p:nvPr/>
        </p:nvSpPr>
        <p:spPr>
          <a:xfrm>
            <a:off x="304792" y="4500563"/>
            <a:ext cx="5333867" cy="10640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7000"/>
              </a:lnSpc>
              <a:spcAft>
                <a:spcPts val="1200"/>
              </a:spcAft>
              <a:buNone/>
            </a:pPr>
            <a:r>
              <a:rPr lang="en-US" sz="1400" dirty="0">
                <a:solidFill>
                  <a:srgbClr val="0F222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Binary search halves the remaining range at every step.</a:t>
            </a:r>
            <a:endParaRPr lang="en-US" sz="1400" dirty="0"/>
          </a:p>
          <a:p>
            <a:pPr algn="l" indent="0" marL="0">
              <a:lnSpc>
                <a:spcPct val="117000"/>
              </a:lnSpc>
              <a:spcAft>
                <a:spcPts val="1200"/>
              </a:spcAft>
              <a:buNone/>
            </a:pPr>
            <a:r>
              <a:rPr lang="en-US" sz="1400" b="1" dirty="0">
                <a:solidFill>
                  <a:srgbClr val="000000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1,000,000 items ≈ 20 steps</a:t>
            </a:r>
            <a:endParaRPr lang="en-US" sz="1400" dirty="0"/>
          </a:p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0F222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Doubling n adds only one step.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6248244" y="2484537"/>
            <a:ext cx="5943451" cy="3916263"/>
          </a:xfrm>
          <a:prstGeom prst="rect">
            <a:avLst/>
          </a:prstGeom>
          <a:solidFill>
            <a:srgbClr val="E3FDF9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53036" y="2952452"/>
            <a:ext cx="355591" cy="3556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553036" y="3485787"/>
            <a:ext cx="5333867" cy="975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200" dirty="0">
                <a:solidFill>
                  <a:srgbClr val="0F2229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-120"/>
              </a:rPr>
              <a:t>Polynomial — O(n), O(n²), O(n³)</a:t>
            </a:r>
            <a:endParaRPr lang="en-US" sz="3200" dirty="0"/>
          </a:p>
        </p:txBody>
      </p:sp>
      <p:sp>
        <p:nvSpPr>
          <p:cNvPr id="13" name="Text 9"/>
          <p:cNvSpPr/>
          <p:nvPr/>
        </p:nvSpPr>
        <p:spPr>
          <a:xfrm>
            <a:off x="6553036" y="4619923"/>
            <a:ext cx="5333867" cy="13128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spcAft>
                <a:spcPts val="1200"/>
              </a:spcAft>
              <a:buNone/>
            </a:pPr>
            <a:r>
              <a:rPr lang="en-US" sz="1400" dirty="0">
                <a:solidFill>
                  <a:srgbClr val="0F222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Linear search, nested loops, simple sorting, and matrix multiplication fit this family.</a:t>
            </a:r>
            <a:endParaRPr lang="en-US" sz="1400" dirty="0"/>
          </a:p>
          <a:p>
            <a:pPr algn="l" indent="0" marL="0">
              <a:lnSpc>
                <a:spcPct val="117000"/>
              </a:lnSpc>
              <a:spcAft>
                <a:spcPts val="1200"/>
              </a:spcAft>
              <a:buNone/>
            </a:pPr>
            <a:r>
              <a:rPr lang="en-US" sz="1400" b="1" dirty="0">
                <a:solidFill>
                  <a:srgbClr val="000000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Doubling n makes n² four times larger</a:t>
            </a:r>
            <a:endParaRPr lang="en-US" sz="1400" dirty="0"/>
          </a:p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0F222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Polynomial algorithms are generally considered efficient.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5" name="Shape 11"/>
          <p:cNvSpPr/>
          <p:nvPr/>
        </p:nvSpPr>
        <p:spPr>
          <a:xfrm>
            <a:off x="0" y="6400800"/>
            <a:ext cx="12191695" cy="9525"/>
          </a:xfrm>
          <a:prstGeom prst="rect">
            <a:avLst/>
          </a:prstGeom>
          <a:solidFill>
            <a:srgbClr val="000000">
              <a:alpha val="20000"/>
            </a:srgbClr>
          </a:solidFill>
          <a:ln/>
        </p:spPr>
      </p:sp>
      <p:sp>
        <p:nvSpPr>
          <p:cNvPr id="16" name="Text 12"/>
          <p:cNvSpPr/>
          <p:nvPr/>
        </p:nvSpPr>
        <p:spPr>
          <a:xfrm>
            <a:off x="177895" y="6542286"/>
            <a:ext cx="3277411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Asymptotic Notation and Growth of Functions</a:t>
            </a:r>
            <a:endParaRPr lang="en-US" sz="1000" dirty="0"/>
          </a:p>
        </p:txBody>
      </p:sp>
      <p:sp>
        <p:nvSpPr>
          <p:cNvPr id="17" name="Text 13"/>
          <p:cNvSpPr/>
          <p:nvPr/>
        </p:nvSpPr>
        <p:spPr>
          <a:xfrm>
            <a:off x="11871524" y="6542286"/>
            <a:ext cx="320171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82800"/>
          </a:xfrm>
          <a:prstGeom prst="rect">
            <a:avLst/>
          </a:prstGeom>
          <a:solidFill>
            <a:srgbClr val="0E3A52"/>
          </a:solidFill>
          <a:ln/>
        </p:spPr>
      </p:sp>
      <p:sp>
        <p:nvSpPr>
          <p:cNvPr id="3" name="Text 1"/>
          <p:cNvSpPr/>
          <p:nvPr/>
        </p:nvSpPr>
        <p:spPr>
          <a:xfrm>
            <a:off x="457189" y="673457"/>
            <a:ext cx="11734506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50" spc="63" kern="100" dirty="0">
                <a:solidFill>
                  <a:srgbClr val="EE8C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THE EXPONENTIAL WALL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457189" y="946382"/>
            <a:ext cx="11277318" cy="4876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200" dirty="0">
                <a:solidFill>
                  <a:srgbClr val="FFFFFF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-120"/>
              </a:rPr>
              <a:t>Exponential time becomes impossible quickly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0" y="2387600"/>
            <a:ext cx="4952876" cy="4013200"/>
          </a:xfrm>
          <a:prstGeom prst="rect">
            <a:avLst/>
          </a:prstGeom>
          <a:solidFill>
            <a:srgbClr val="0E3A52"/>
          </a:solidFill>
          <a:ln/>
        </p:spPr>
      </p:sp>
      <p:sp>
        <p:nvSpPr>
          <p:cNvPr id="6" name="Text 4"/>
          <p:cNvSpPr/>
          <p:nvPr/>
        </p:nvSpPr>
        <p:spPr>
          <a:xfrm>
            <a:off x="457189" y="3348514"/>
            <a:ext cx="4038499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E3FDF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Trying all subsets takes O(2ⁿ) operations. Adding one element doubles the work.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189" y="4222750"/>
            <a:ext cx="4038499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5000" dirty="0">
                <a:solidFill>
                  <a:srgbClr val="EE8C77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-120"/>
              </a:rPr>
              <a:t>2ⁿ</a:t>
            </a:r>
            <a:endParaRPr lang="en-US" sz="5000" dirty="0"/>
          </a:p>
        </p:txBody>
      </p:sp>
      <p:sp>
        <p:nvSpPr>
          <p:cNvPr id="8" name="Text 6"/>
          <p:cNvSpPr/>
          <p:nvPr/>
        </p:nvSpPr>
        <p:spPr>
          <a:xfrm>
            <a:off x="457189" y="4960620"/>
            <a:ext cx="4038499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E3FDF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Exponential growth can overwhelm any practical computer.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257668" y="2387600"/>
            <a:ext cx="6934027" cy="4013200"/>
          </a:xfrm>
          <a:prstGeom prst="rect">
            <a:avLst/>
          </a:prstGeom>
          <a:solidFill>
            <a:srgbClr val="E3FDF9"/>
          </a:solidFill>
          <a:ln/>
        </p:spPr>
      </p:sp>
      <p:sp>
        <p:nvSpPr>
          <p:cNvPr id="10" name="Shape 8"/>
          <p:cNvSpPr/>
          <p:nvPr/>
        </p:nvSpPr>
        <p:spPr>
          <a:xfrm>
            <a:off x="5562461" y="2616200"/>
            <a:ext cx="177796" cy="1066800"/>
          </a:xfrm>
          <a:prstGeom prst="roundRect">
            <a:avLst>
              <a:gd name="adj" fmla="val 42000"/>
            </a:avLst>
          </a:prstGeom>
          <a:solidFill>
            <a:srgbClr val="F2EEEE"/>
          </a:solidFill>
          <a:ln w="6350">
            <a:solidFill>
              <a:srgbClr val="D8D4D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18052" y="2794000"/>
            <a:ext cx="5968851" cy="2590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0F2229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-120"/>
              </a:rPr>
              <a:t>n = 10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5918052" y="3159720"/>
            <a:ext cx="5968851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0F222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2¹⁰ = 1,024 operations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829154" y="3860800"/>
            <a:ext cx="177796" cy="1066800"/>
          </a:xfrm>
          <a:prstGeom prst="roundRect">
            <a:avLst>
              <a:gd name="adj" fmla="val 42000"/>
            </a:avLst>
          </a:prstGeom>
          <a:solidFill>
            <a:srgbClr val="F2EEEE"/>
          </a:solidFill>
          <a:ln w="6350">
            <a:solidFill>
              <a:srgbClr val="D8D4D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184745" y="4038600"/>
            <a:ext cx="5702157" cy="2590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0F2229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-120"/>
              </a:rPr>
              <a:t>n = 100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6184745" y="4404320"/>
            <a:ext cx="5702157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0F222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2¹⁰⁰ ≈ 1.27 × 10³⁰ operations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095848" y="5105400"/>
            <a:ext cx="177796" cy="1066800"/>
          </a:xfrm>
          <a:prstGeom prst="roundRect">
            <a:avLst>
              <a:gd name="adj" fmla="val 42000"/>
            </a:avLst>
          </a:prstGeom>
          <a:solidFill>
            <a:srgbClr val="F2EEEE"/>
          </a:solidFill>
          <a:ln w="6350">
            <a:solidFill>
              <a:srgbClr val="D8D4D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51439" y="5283200"/>
            <a:ext cx="5435464" cy="2590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0F2229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-120"/>
              </a:rPr>
              <a:t>Each new element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6451439" y="5648920"/>
            <a:ext cx="5435464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0F222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Adding one element doubles the work.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0" name="Shape 18"/>
          <p:cNvSpPr/>
          <p:nvPr/>
        </p:nvSpPr>
        <p:spPr>
          <a:xfrm>
            <a:off x="0" y="6400800"/>
            <a:ext cx="12191695" cy="9525"/>
          </a:xfrm>
          <a:prstGeom prst="rect">
            <a:avLst/>
          </a:prstGeom>
          <a:solidFill>
            <a:srgbClr val="000000">
              <a:alpha val="20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177895" y="6542286"/>
            <a:ext cx="3277411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Asymptotic Notation and Growth of Functions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1871524" y="6542286"/>
            <a:ext cx="320171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017" cy="6400800"/>
          </a:xfrm>
          <a:prstGeom prst="rect">
            <a:avLst/>
          </a:prstGeom>
          <a:solidFill>
            <a:srgbClr val="0E3A52"/>
          </a:solidFill>
          <a:ln/>
        </p:spPr>
      </p:sp>
      <p:sp>
        <p:nvSpPr>
          <p:cNvPr id="3" name="Text 1"/>
          <p:cNvSpPr/>
          <p:nvPr/>
        </p:nvSpPr>
        <p:spPr>
          <a:xfrm>
            <a:off x="457189" y="862667"/>
            <a:ext cx="6857828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50" spc="63" kern="100" dirty="0">
                <a:solidFill>
                  <a:srgbClr val="EE8C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08 · THE TAKEAWAY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457189" y="1143968"/>
            <a:ext cx="6400640" cy="14628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800" dirty="0">
                <a:solidFill>
                  <a:srgbClr val="FFFFFF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-120"/>
              </a:rPr>
              <a:t>Remember the growth order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457189" y="2822376"/>
            <a:ext cx="640064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5000" dirty="0">
                <a:solidFill>
                  <a:srgbClr val="EE8C77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-120"/>
              </a:rPr>
              <a:t>log n &lt; n &lt; n² &lt; 2ⁿ</a:t>
            </a:r>
            <a:endParaRPr lang="en-US" sz="50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189" y="3551039"/>
          <a:ext cx="6400640" cy="914400"/>
        </p:xfrm>
        <a:graphic>
          <a:graphicData uri="http://schemas.openxmlformats.org/drawingml/2006/table">
            <a:tbl>
              <a:tblPr/>
              <a:tblGrid>
                <a:gridCol w="1920172"/>
                <a:gridCol w="2240184"/>
                <a:gridCol w="2240284"/>
              </a:tblGrid>
              <a:tr h="39726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Function</a:t>
                      </a:r>
                      <a:endParaRPr lang="en-US" sz="14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4869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869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869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869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D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n = 10</a:t>
                      </a:r>
                      <a:endParaRPr lang="en-US" sz="14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4869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869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869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869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D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n = 100</a:t>
                      </a:r>
                      <a:endParaRPr lang="en-US" sz="14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4869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869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869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869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DF9"/>
                    </a:solidFill>
                  </a:tcPr>
                </a:tc>
              </a:tr>
              <a:tr h="39726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log₂ n</a:t>
                      </a:r>
                      <a:endParaRPr lang="en-US" sz="14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4869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869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869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869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D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3.3</a:t>
                      </a:r>
                      <a:endParaRPr lang="en-US" sz="14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4869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869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869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869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D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6.6</a:t>
                      </a:r>
                      <a:endParaRPr lang="en-US" sz="14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4869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869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869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869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DF9"/>
                    </a:solidFill>
                  </a:tcPr>
                </a:tc>
              </a:tr>
              <a:tr h="39726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n</a:t>
                      </a:r>
                      <a:endParaRPr lang="en-US" sz="14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4869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869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869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869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D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10</a:t>
                      </a:r>
                      <a:endParaRPr lang="en-US" sz="14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4869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869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869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869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D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100</a:t>
                      </a:r>
                      <a:endParaRPr lang="en-US" sz="14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4869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869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869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869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DF9"/>
                    </a:solidFill>
                  </a:tcPr>
                </a:tc>
              </a:tr>
              <a:tr h="39726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n²</a:t>
                      </a:r>
                      <a:endParaRPr lang="en-US" sz="14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4869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869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869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869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D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100</a:t>
                      </a:r>
                      <a:endParaRPr lang="en-US" sz="14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4869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869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869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869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D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10,000</a:t>
                      </a:r>
                      <a:endParaRPr lang="en-US" sz="14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4869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869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869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869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DF9"/>
                    </a:solidFill>
                  </a:tcPr>
                </a:tc>
              </a:tr>
              <a:tr h="390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2ⁿ</a:t>
                      </a:r>
                      <a:endParaRPr lang="en-US" sz="14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4869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869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869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869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D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1,024</a:t>
                      </a:r>
                      <a:endParaRPr lang="en-US" sz="14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4869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869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869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869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D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1.27 × 10³⁰</a:t>
                      </a:r>
                      <a:endParaRPr lang="en-US" sz="14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4869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869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869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869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DF9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7315017" y="0"/>
            <a:ext cx="4876678" cy="6400800"/>
          </a:xfrm>
          <a:prstGeom prst="rect">
            <a:avLst/>
          </a:prstGeom>
          <a:solidFill>
            <a:srgbClr val="082A3B"/>
          </a:solidFill>
          <a:ln/>
        </p:spPr>
      </p:sp>
      <p:sp>
        <p:nvSpPr>
          <p:cNvPr id="8" name="Text 5"/>
          <p:cNvSpPr/>
          <p:nvPr/>
        </p:nvSpPr>
        <p:spPr>
          <a:xfrm>
            <a:off x="7772206" y="467783"/>
            <a:ext cx="3962301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E8664A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-120"/>
              </a:rPr>
              <a:t>Simplify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7772206" y="898208"/>
            <a:ext cx="3962301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Ignore constants and lower-order terms for large n.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7772206" y="2746243"/>
            <a:ext cx="3962301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E8664A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-120"/>
              </a:rPr>
              <a:t>Classify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7772206" y="3176667"/>
            <a:ext cx="3962301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Use O for upper bounds, Ω for lower bounds, and Θ for tight bounds.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7772206" y="5024702"/>
            <a:ext cx="3962301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E8664A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-120"/>
              </a:rPr>
              <a:t>Choose</a:t>
            </a:r>
            <a:endParaRPr lang="en-US" sz="2000" dirty="0"/>
          </a:p>
        </p:txBody>
      </p:sp>
      <p:sp>
        <p:nvSpPr>
          <p:cNvPr id="13" name="Text 10"/>
          <p:cNvSpPr/>
          <p:nvPr/>
        </p:nvSpPr>
        <p:spPr>
          <a:xfrm>
            <a:off x="7772206" y="5455126"/>
            <a:ext cx="3962301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Prefer slower-growing algorithms when inputs can become large.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5" name="Shape 12"/>
          <p:cNvSpPr/>
          <p:nvPr/>
        </p:nvSpPr>
        <p:spPr>
          <a:xfrm>
            <a:off x="0" y="6400800"/>
            <a:ext cx="12191695" cy="9525"/>
          </a:xfrm>
          <a:prstGeom prst="rect">
            <a:avLst/>
          </a:prstGeom>
          <a:solidFill>
            <a:srgbClr val="000000">
              <a:alpha val="20000"/>
            </a:srgbClr>
          </a:solidFill>
          <a:ln/>
        </p:spPr>
      </p:sp>
      <p:sp>
        <p:nvSpPr>
          <p:cNvPr id="16" name="Text 13"/>
          <p:cNvSpPr/>
          <p:nvPr/>
        </p:nvSpPr>
        <p:spPr>
          <a:xfrm>
            <a:off x="177895" y="6542286"/>
            <a:ext cx="3277411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Asymptotic Notation and Growth of Functions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11871524" y="6542286"/>
            <a:ext cx="320171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09585" cy="6858000"/>
          </a:xfrm>
          <a:prstGeom prst="rect">
            <a:avLst/>
          </a:prstGeom>
          <a:solidFill>
            <a:srgbClr val="E8664A"/>
          </a:solidFill>
          <a:ln/>
        </p:spPr>
      </p:sp>
      <p:sp>
        <p:nvSpPr>
          <p:cNvPr id="3" name="Text 1"/>
          <p:cNvSpPr/>
          <p:nvPr/>
        </p:nvSpPr>
        <p:spPr>
          <a:xfrm>
            <a:off x="1523962" y="1998226"/>
            <a:ext cx="10362941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50" spc="63" kern="100" dirty="0">
                <a:solidFill>
                  <a:srgbClr val="EE8C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DESIGN AND ANALYSIS OF ALGORITHMS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523962" y="2379166"/>
            <a:ext cx="9753356" cy="939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7400" dirty="0">
                <a:solidFill>
                  <a:srgbClr val="FFFFFF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-120"/>
              </a:rPr>
              <a:t>Thank You</a:t>
            </a:r>
            <a:endParaRPr lang="en-US" sz="7400" dirty="0"/>
          </a:p>
        </p:txBody>
      </p:sp>
      <p:sp>
        <p:nvSpPr>
          <p:cNvPr id="5" name="Shape 3"/>
          <p:cNvSpPr/>
          <p:nvPr/>
        </p:nvSpPr>
        <p:spPr>
          <a:xfrm>
            <a:off x="1523962" y="3414216"/>
            <a:ext cx="3218576" cy="38100"/>
          </a:xfrm>
          <a:prstGeom prst="roundRect">
            <a:avLst>
              <a:gd name="adj" fmla="val 49999"/>
            </a:avLst>
          </a:prstGeom>
          <a:solidFill>
            <a:srgbClr val="E8664A"/>
          </a:solidFill>
          <a:ln/>
        </p:spPr>
      </p:sp>
      <p:sp>
        <p:nvSpPr>
          <p:cNvPr id="6" name="Text 4"/>
          <p:cNvSpPr/>
          <p:nvPr/>
        </p:nvSpPr>
        <p:spPr>
          <a:xfrm>
            <a:off x="1523962" y="3664724"/>
            <a:ext cx="10362941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E3FDF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Questions and discussion.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523962" y="4209157"/>
            <a:ext cx="9753356" cy="6564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7000"/>
              </a:lnSpc>
              <a:spcAft>
                <a:spcPts val="12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By Aryan Marghade</a:t>
            </a:r>
            <a:endParaRPr lang="en-US" sz="1400" dirty="0"/>
          </a:p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PRN: 25070521215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2026-10-18T17:52:10Z</dcterms:created>
  <dcterms:modified xsi:type="dcterms:W3CDTF">2026-10-18T17:52:10Z</dcterms:modified>
</cp:coreProperties>
</file>